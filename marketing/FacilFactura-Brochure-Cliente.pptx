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9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compac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97764"/>
            <a:ext cx="1224838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0"/>
            <a:ext cx="5285232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50" b="0" i="0">
                <a:solidFill>
                  <a:srgbClr val="B9CEF5"/>
                </a:solidFill>
                <a:latin typeface="Segoe UI"/>
              </a:rPr>
              <a:t>Facturación electrónica DIAN para tu empresa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806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E293B"/>
                </a:solidFill>
                <a:latin typeface="Segoe UI"/>
              </a:rPr>
              <a:t>Factura ante la DIAN sin</a:t>
            </a:r>
          </a:p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E293B"/>
                </a:solidFill>
                <a:latin typeface="Segoe UI"/>
              </a:rPr>
              <a:t>complicaciones técnicas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623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Fácil Factura te habilita ante la DIAN y pone a tu disposición un portal simple -y una API para tu ERP- para emitir facturas, notas y documentos equivalentes. Tú facturas; nosotros nos encargamos de la complejidad técnica.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83280"/>
            <a:ext cx="1828800" cy="1417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con_fa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511296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656" y="3950208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E293B"/>
                </a:solidFill>
                <a:latin typeface="Segoe UI"/>
              </a:rPr>
              <a:t>Emite en segundos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4334256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80" b="0" i="0">
                <a:solidFill>
                  <a:srgbClr val="64748B"/>
                </a:solidFill>
                <a:latin typeface="Segoe UI"/>
              </a:rPr>
              <a:t>Factura de venta, notas crédito/débito y documentos equivalentes desde un portal simple.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3744" y="3383280"/>
            <a:ext cx="1828800" cy="1417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con_habilitac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3511296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651760" y="3950208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E293B"/>
                </a:solidFill>
                <a:latin typeface="Segoe UI"/>
              </a:rPr>
              <a:t>Habilitación DIAN acompañada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334256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80" b="0" i="0">
                <a:solidFill>
                  <a:srgbClr val="64748B"/>
                </a:solidFill>
                <a:latin typeface="Segoe UI"/>
              </a:rPr>
              <a:t>Te ayudamos con el software propio, el PIN y la carga de tu certificado digital.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848" y="3383280"/>
            <a:ext cx="1828800" cy="1417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on_mar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3511296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26864" y="3950208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E293B"/>
                </a:solidFill>
                <a:latin typeface="Segoe UI"/>
              </a:rPr>
              <a:t>Tu marca en cada factura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4334256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80" b="0" i="0">
                <a:solidFill>
                  <a:srgbClr val="64748B"/>
                </a:solidFill>
                <a:latin typeface="Segoe UI"/>
              </a:rPr>
              <a:t>Tu logo y tus datos, visibles en la plantilla PDF que reciben tus clientes.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28616"/>
            <a:ext cx="1828800" cy="1417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con_bols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5056632"/>
            <a:ext cx="36576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6656" y="5495544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E293B"/>
                </a:solidFill>
                <a:latin typeface="Segoe UI"/>
              </a:rPr>
              <a:t>Paga solo por documento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5879592"/>
            <a:ext cx="1591056" cy="392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80" b="0" i="0" dirty="0" err="1">
                <a:solidFill>
                  <a:srgbClr val="64748B"/>
                </a:solidFill>
                <a:latin typeface="Segoe UI"/>
              </a:rPr>
              <a:t>Desde</a:t>
            </a:r>
            <a:r>
              <a:rPr sz="780" b="0" i="0" dirty="0">
                <a:solidFill>
                  <a:srgbClr val="64748B"/>
                </a:solidFill>
                <a:latin typeface="Segoe UI"/>
              </a:rPr>
              <a:t> $1</a:t>
            </a:r>
            <a:r>
              <a:rPr lang="es-CO" sz="780" b="0" i="0" dirty="0">
                <a:solidFill>
                  <a:srgbClr val="64748B"/>
                </a:solidFill>
                <a:latin typeface="Segoe UI"/>
              </a:rPr>
              <a:t>0</a:t>
            </a:r>
            <a:r>
              <a:rPr sz="780" b="0" i="0" dirty="0">
                <a:solidFill>
                  <a:srgbClr val="64748B"/>
                </a:solidFill>
                <a:latin typeface="Segoe UI"/>
              </a:rPr>
              <a:t>0 COP </a:t>
            </a:r>
            <a:r>
              <a:rPr sz="780" b="0" i="0" dirty="0" err="1">
                <a:solidFill>
                  <a:srgbClr val="64748B"/>
                </a:solidFill>
                <a:latin typeface="Segoe UI"/>
              </a:rPr>
              <a:t>por</a:t>
            </a:r>
            <a:r>
              <a:rPr sz="780" b="0" i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780" b="0" i="0" dirty="0" err="1">
                <a:solidFill>
                  <a:srgbClr val="64748B"/>
                </a:solidFill>
                <a:latin typeface="Segoe UI"/>
              </a:rPr>
              <a:t>documento</a:t>
            </a:r>
            <a:r>
              <a:rPr sz="780" b="0" i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780" b="0" i="0" dirty="0" err="1">
                <a:solidFill>
                  <a:srgbClr val="64748B"/>
                </a:solidFill>
                <a:latin typeface="Segoe UI"/>
              </a:rPr>
              <a:t>emitido</a:t>
            </a:r>
            <a:r>
              <a:rPr sz="780" b="0" i="0" dirty="0">
                <a:solidFill>
                  <a:srgbClr val="64748B"/>
                </a:solidFill>
                <a:latin typeface="Segoe UI"/>
              </a:rPr>
              <a:t>. Sin </a:t>
            </a:r>
            <a:r>
              <a:rPr sz="780" b="0" i="0" dirty="0" err="1">
                <a:solidFill>
                  <a:srgbClr val="64748B"/>
                </a:solidFill>
                <a:latin typeface="Segoe UI"/>
              </a:rPr>
              <a:t>mensualidades</a:t>
            </a:r>
            <a:r>
              <a:rPr sz="780" b="0" i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780" b="0" i="0" dirty="0" err="1">
                <a:solidFill>
                  <a:srgbClr val="64748B"/>
                </a:solidFill>
                <a:latin typeface="Segoe UI"/>
              </a:rPr>
              <a:t>ni</a:t>
            </a:r>
            <a:r>
              <a:rPr sz="780" b="0" i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780" b="0" i="0" dirty="0" err="1">
                <a:solidFill>
                  <a:srgbClr val="64748B"/>
                </a:solidFill>
                <a:latin typeface="Segoe UI"/>
              </a:rPr>
              <a:t>permanencia</a:t>
            </a:r>
            <a:r>
              <a:rPr sz="780" b="0" i="0" dirty="0">
                <a:solidFill>
                  <a:srgbClr val="64748B"/>
                </a:solidFill>
                <a:latin typeface="Segoe UI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23744" y="4928616"/>
            <a:ext cx="1828800" cy="1417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con_ap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0" y="5056632"/>
            <a:ext cx="365760" cy="365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651760" y="5495544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E293B"/>
                </a:solidFill>
                <a:latin typeface="Segoe UI"/>
              </a:rPr>
              <a:t>Conecta tu ERP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879592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80" b="0" i="0">
                <a:solidFill>
                  <a:srgbClr val="64748B"/>
                </a:solidFill>
                <a:latin typeface="Segoe UI"/>
              </a:rPr>
              <a:t>API REST con autenticación HMAC para emitir de forma automática desde tu propio software.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8848" y="4928616"/>
            <a:ext cx="1828800" cy="1417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n_salu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864" y="5056632"/>
            <a:ext cx="365760" cy="365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626864" y="5495544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E293B"/>
                </a:solidFill>
                <a:latin typeface="Segoe UI"/>
              </a:rPr>
              <a:t>Sector salud (RIPS)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5879592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80" b="0" i="0">
                <a:solidFill>
                  <a:srgbClr val="64748B"/>
                </a:solidFill>
                <a:latin typeface="Segoe UI"/>
              </a:rPr>
              <a:t>Validación CIE-10 y CUPS integrada para clínicas, laboratorios y profesionales de salud.</a:t>
            </a:r>
          </a:p>
        </p:txBody>
      </p:sp>
      <p:pic>
        <p:nvPicPr>
          <p:cNvPr id="32" name="Picture 31" descr="mockup_client_invoic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1757390"/>
            <a:ext cx="5193792" cy="256598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446520" y="4892040"/>
            <a:ext cx="5193792" cy="1234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20840" y="5056632"/>
            <a:ext cx="4663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2F71F0"/>
                </a:solidFill>
                <a:latin typeface="Segoe UI"/>
              </a:rPr>
              <a:t>Desde</a:t>
            </a:r>
            <a:r>
              <a:rPr sz="1200" b="1" i="0" dirty="0">
                <a:solidFill>
                  <a:srgbClr val="2F71F0"/>
                </a:solidFill>
                <a:latin typeface="Segoe UI"/>
              </a:rPr>
              <a:t> $1</a:t>
            </a:r>
            <a:r>
              <a:rPr lang="es-CO" sz="1200" b="1" i="0" dirty="0">
                <a:solidFill>
                  <a:srgbClr val="2F71F0"/>
                </a:solidFill>
                <a:latin typeface="Segoe UI"/>
              </a:rPr>
              <a:t>0</a:t>
            </a:r>
            <a:r>
              <a:rPr sz="1200" b="1" i="0" dirty="0">
                <a:solidFill>
                  <a:srgbClr val="2F71F0"/>
                </a:solidFill>
                <a:latin typeface="Segoe UI"/>
              </a:rPr>
              <a:t>0 COP </a:t>
            </a:r>
            <a:r>
              <a:rPr sz="1200" b="1" i="0" dirty="0" err="1">
                <a:solidFill>
                  <a:srgbClr val="2F71F0"/>
                </a:solidFill>
                <a:latin typeface="Segoe UI"/>
              </a:rPr>
              <a:t>por</a:t>
            </a:r>
            <a:r>
              <a:rPr sz="1200" b="1" i="0" dirty="0">
                <a:solidFill>
                  <a:srgbClr val="2F71F0"/>
                </a:solidFill>
                <a:latin typeface="Segoe UI"/>
              </a:rPr>
              <a:t> </a:t>
            </a:r>
            <a:r>
              <a:rPr sz="1200" b="1" i="0" dirty="0" err="1">
                <a:solidFill>
                  <a:srgbClr val="2F71F0"/>
                </a:solidFill>
                <a:latin typeface="Segoe UI"/>
              </a:rPr>
              <a:t>documento</a:t>
            </a:r>
            <a:r>
              <a:rPr sz="1200" b="1" i="0" dirty="0">
                <a:solidFill>
                  <a:srgbClr val="2F71F0"/>
                </a:solidFill>
                <a:latin typeface="Segoe UI"/>
              </a:rPr>
              <a:t> · Sin </a:t>
            </a:r>
            <a:r>
              <a:rPr sz="1200" b="1" i="0" dirty="0" err="1">
                <a:solidFill>
                  <a:srgbClr val="2F71F0"/>
                </a:solidFill>
                <a:latin typeface="Segoe UI"/>
              </a:rPr>
              <a:t>mensualidades</a:t>
            </a:r>
            <a:endParaRPr sz="1200" b="1" i="0" dirty="0">
              <a:solidFill>
                <a:srgbClr val="2F71F0"/>
              </a:solidFill>
              <a:latin typeface="Segoe U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20840" y="5422392"/>
            <a:ext cx="46634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dirty="0">
                <a:solidFill>
                  <a:srgbClr val="1E293B"/>
                </a:solidFill>
                <a:latin typeface="Segoe UI"/>
              </a:rPr>
              <a:t>C</a:t>
            </a:r>
            <a:r>
              <a:rPr lang="es-CO" sz="1250" b="1" i="0" dirty="0" err="1">
                <a:solidFill>
                  <a:srgbClr val="1E293B"/>
                </a:solidFill>
                <a:latin typeface="Segoe UI"/>
              </a:rPr>
              <a:t>ontáctanos</a:t>
            </a:r>
            <a:r>
              <a:rPr lang="es-CO" sz="1250" b="1" i="0" dirty="0">
                <a:solidFill>
                  <a:srgbClr val="1E293B"/>
                </a:solidFill>
                <a:latin typeface="Segoe UI"/>
              </a:rPr>
              <a:t> para c</a:t>
            </a:r>
            <a:r>
              <a:rPr sz="1250" b="1" i="0" dirty="0">
                <a:solidFill>
                  <a:srgbClr val="1E293B"/>
                </a:solidFill>
                <a:latin typeface="Segoe UI"/>
              </a:rPr>
              <a:t>rea</a:t>
            </a:r>
            <a:r>
              <a:rPr lang="es-CO" sz="1250" b="1" i="0" dirty="0">
                <a:solidFill>
                  <a:srgbClr val="1E293B"/>
                </a:solidFill>
                <a:latin typeface="Segoe UI"/>
              </a:rPr>
              <a:t>r</a:t>
            </a:r>
            <a:r>
              <a:rPr sz="1250" b="1" i="0" dirty="0">
                <a:solidFill>
                  <a:srgbClr val="1E293B"/>
                </a:solidFill>
                <a:latin typeface="Segoe UI"/>
              </a:rPr>
              <a:t> </a:t>
            </a:r>
            <a:r>
              <a:rPr sz="1250" b="1" i="0" dirty="0" err="1">
                <a:solidFill>
                  <a:srgbClr val="1E293B"/>
                </a:solidFill>
                <a:latin typeface="Segoe UI"/>
              </a:rPr>
              <a:t>tu</a:t>
            </a:r>
            <a:r>
              <a:rPr sz="1250" b="1" i="0" dirty="0">
                <a:solidFill>
                  <a:srgbClr val="1E293B"/>
                </a:solidFill>
                <a:latin typeface="Segoe UI"/>
              </a:rPr>
              <a:t> </a:t>
            </a:r>
            <a:r>
              <a:rPr sz="1250" b="1" i="0" dirty="0" err="1">
                <a:solidFill>
                  <a:srgbClr val="1E293B"/>
                </a:solidFill>
                <a:latin typeface="Segoe UI"/>
              </a:rPr>
              <a:t>cuent</a:t>
            </a:r>
            <a:r>
              <a:rPr lang="es-CO" sz="1250" b="1" i="0" dirty="0">
                <a:solidFill>
                  <a:srgbClr val="1E293B"/>
                </a:solidFill>
                <a:latin typeface="Segoe UI"/>
              </a:rPr>
              <a:t>a de cliente.</a:t>
            </a:r>
            <a:endParaRPr sz="1250" b="1" i="0" dirty="0">
              <a:solidFill>
                <a:srgbClr val="1E293B"/>
              </a:solidFill>
              <a:latin typeface="Segoe U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20840" y="573328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www.facil-factura.pro   ·   soporte@facil-apps.online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sotipo-blanc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6547104"/>
            <a:ext cx="237744" cy="2377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9808" y="647395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Fácil Factura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473952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 i="0">
                <a:solidFill>
                  <a:srgbClr val="B9CEF5"/>
                </a:solidFill>
                <a:latin typeface="Segoe UI"/>
              </a:rPr>
              <a:t>www.facil-factura.pro   ·   soporte@facil-apps.online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9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compac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0604"/>
            <a:ext cx="1224838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0"/>
            <a:ext cx="52852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B9CEF5"/>
                </a:solidFill>
                <a:latin typeface="Segoe UI"/>
              </a:rPr>
              <a:t>Documentos y planes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Segoe UI"/>
              </a:rPr>
              <a:t>Todos los documentos que exigen la DIAN y MinSalud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27 tipos de documento electrónico, cubiertos desde un mismo lugar.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520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con_fa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020823"/>
            <a:ext cx="384048" cy="3840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529585" y="2057399"/>
            <a:ext cx="411479" cy="23774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9585" y="2057399"/>
            <a:ext cx="41147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496311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Facturación de venta DIAN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788919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Facturas de venta estándar, AIU, mandatos, exportación y contingencia.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874519"/>
            <a:ext cx="3520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con_not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2020823"/>
            <a:ext cx="384048" cy="38404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232905" y="2057399"/>
            <a:ext cx="411479" cy="23774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32905" y="2057399"/>
            <a:ext cx="41147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DIAN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2496311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Notas crédito y débito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2788919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Anula, corrige o ajusta tus documentos con notas electrónicas ante la DIAN.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1874519"/>
            <a:ext cx="3520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con_equivalen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4" y="2020823"/>
            <a:ext cx="384048" cy="38404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0936225" y="2057399"/>
            <a:ext cx="411479" cy="23774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36225" y="2057399"/>
            <a:ext cx="41147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DIAN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2496311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Documentos equivalentes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1584" y="2788919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Tiquete POS, cine, transporte, peajes, servicios públicos y espectáculos.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300983"/>
            <a:ext cx="3520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con_sal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447287"/>
            <a:ext cx="384048" cy="38404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3255264" y="3483863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BA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55264" y="3483863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MINSALUD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3922775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RIPS sector salud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215383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Registro Individual de Prestación de Servicios con validación CIE-10 y CUPS.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3300983"/>
            <a:ext cx="3520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con_nomin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8264" y="3447287"/>
            <a:ext cx="384048" cy="38404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7232905" y="3483863"/>
            <a:ext cx="411479" cy="23774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32905" y="3483863"/>
            <a:ext cx="41147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DIAN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98264" y="3922775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Nómina electrónica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8264" y="4215383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Documentos de nómina y sus notas de ajuste, conforme a la resolución vigente.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80" y="3300983"/>
            <a:ext cx="3520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con_sopor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1584" y="3447287"/>
            <a:ext cx="384048" cy="38404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10936225" y="3483863"/>
            <a:ext cx="411479" cy="23774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936225" y="3483863"/>
            <a:ext cx="41147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DIAN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3922775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Documento soporte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4215383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Adquisiciones a no obligados de facturar y sus notas de ajuste.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074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Segoe UI"/>
              </a:rPr>
              <a:t>Cómo empezar</a:t>
            </a:r>
          </a:p>
        </p:txBody>
      </p:sp>
      <p:sp>
        <p:nvSpPr>
          <p:cNvPr id="45" name="Oval 44"/>
          <p:cNvSpPr/>
          <p:nvPr/>
        </p:nvSpPr>
        <p:spPr>
          <a:xfrm>
            <a:off x="548640" y="5532120"/>
            <a:ext cx="365760" cy="365760"/>
          </a:xfrm>
          <a:prstGeom prst="ellipse">
            <a:avLst/>
          </a:prstGeom>
          <a:solidFill>
            <a:srgbClr val="2F7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5532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" y="5513832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Crea tu cuenta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" y="580644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Regístrate con tus datos fiscales: NIT, DV, régimen y actividad.</a:t>
            </a:r>
          </a:p>
        </p:txBody>
      </p:sp>
      <p:sp>
        <p:nvSpPr>
          <p:cNvPr id="49" name="Oval 48"/>
          <p:cNvSpPr/>
          <p:nvPr/>
        </p:nvSpPr>
        <p:spPr>
          <a:xfrm>
            <a:off x="4160520" y="5532120"/>
            <a:ext cx="365760" cy="365760"/>
          </a:xfrm>
          <a:prstGeom prst="ellipse">
            <a:avLst/>
          </a:prstGeom>
          <a:solidFill>
            <a:srgbClr val="2F7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60520" y="5532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72584" y="5513832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Habilita tu empresa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72584" y="580644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Software propio, PIN y certificado digital ante la DIAN.</a:t>
            </a:r>
          </a:p>
        </p:txBody>
      </p:sp>
      <p:sp>
        <p:nvSpPr>
          <p:cNvPr id="53" name="Oval 52"/>
          <p:cNvSpPr/>
          <p:nvPr/>
        </p:nvSpPr>
        <p:spPr>
          <a:xfrm>
            <a:off x="7772400" y="5532120"/>
            <a:ext cx="365760" cy="365760"/>
          </a:xfrm>
          <a:prstGeom prst="ellipse">
            <a:avLst/>
          </a:prstGeom>
          <a:solidFill>
            <a:srgbClr val="2F7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72400" y="5532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4464" y="5513832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Emite por portal o API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4464" y="580644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Genera documentos desde el portal o intégralos a tu ERP.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isotipo-blanc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6547104"/>
            <a:ext cx="237744" cy="23774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49808" y="647395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Fácil Factura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0" y="6473952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 i="0">
                <a:solidFill>
                  <a:srgbClr val="B9CEF5"/>
                </a:solidFill>
                <a:latin typeface="Segoe UI"/>
              </a:rPr>
              <a:t>www.facil-factura.pro   ·   soporte@facil-apps.online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410</Words>
  <Application>Microsoft Office PowerPoint</Application>
  <PresentationFormat>Panorámica</PresentationFormat>
  <Paragraphs>54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Office Theme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José Vicente Zapata Estrada</cp:lastModifiedBy>
  <cp:revision>2</cp:revision>
  <dcterms:created xsi:type="dcterms:W3CDTF">2013-01-27T09:14:16Z</dcterms:created>
  <dcterms:modified xsi:type="dcterms:W3CDTF">2026-08-18T12:30:30Z</dcterms:modified>
  <cp:category/>
</cp:coreProperties>
</file>